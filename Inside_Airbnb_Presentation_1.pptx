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8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Airbnb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Multi-City Data Analytics Journey — Paris  ·  London  ·  Hong Kong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0973"/>
          </a:xfrm>
          <a:prstGeom prst="rect">
            <a:avLst/>
          </a:prstGeom>
          <a:solidFill>
            <a:srgbClr val="3A4A8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6172" y="33192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76172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41788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Helana Emad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44368" y="30632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43300" y="33192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41788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Abdelnasser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11496" y="30632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0428" y="33192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710428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84648" y="41788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78624" y="30632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7556" y="33192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877556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51776" y="41788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45752" y="30632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44684" y="3319272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44684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18904" y="41788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Sohaila Elnagdy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894076" y="5120640"/>
            <a:ext cx="6400800" cy="566928"/>
          </a:xfrm>
          <a:prstGeom prst="roundRect">
            <a:avLst>
              <a:gd name="adj" fmla="val 50000"/>
            </a:avLst>
          </a:prstGeom>
          <a:solidFill>
            <a:srgbClr val="1620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94076" y="5120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Shimaa Daowd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Inside Airbnb — a public, independently-run project publishing detailed Airbnb listing, calendar, and review data for cities worldwide.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three major, geographically distinct markets — Paris, London, and Hong Kong.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removed missing values and duplicate records, and standardized column formats across the three raw city files.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merged the three cleaned city datasets into a single unified dataset, making cross-city comparison and analysis far simpler.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87452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9E3"/>
            </a:solidFill>
            <a:prstDash val="solid"/>
          </a:ln>
          <a:effectLst>
            <a:outerShdw blurRad="76200" dist="25400" dir="5400000" algn="bl" rotWithShape="0">
              <a:srgbClr val="0F1E33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03720" y="18745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257860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9E3"/>
            </a:solidFill>
            <a:prstDash val="solid"/>
          </a:ln>
          <a:effectLst>
            <a:outerShdw blurRad="76200" dist="25400" dir="5400000" algn="bl" rotWithShape="0">
              <a:srgbClr val="0F1E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5786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03720" y="3282696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9E3"/>
            </a:solidFill>
            <a:prstDash val="solid"/>
          </a:ln>
          <a:effectLst>
            <a:outerShdw blurRad="76200" dist="25400" dir="5400000" algn="bl" rotWithShape="0">
              <a:srgbClr val="0F1E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32826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89720" y="2377440"/>
            <a:ext cx="50292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829800" y="2130552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F1E33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921240" y="2130552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(nulls &amp; duplicates removed)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0" y="3172968"/>
            <a:ext cx="365760" cy="41148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555480" y="37033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F1E33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55480" y="3703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Executive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3-page interactive Power BI report on top of the unified dataset.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summarize the full portfolio: 176K total listings, ~$2bn estimated annual revenue, $276.65 average price, 27% occupancy, and 20% superhosts.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and donut chart break the portfolio down by neighbourhood revenue and room type mix.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44932" y="3136392"/>
            <a:ext cx="2355663" cy="3282696"/>
          </a:xfrm>
          <a:prstGeom prst="roundRect">
            <a:avLst>
              <a:gd name="adj" fmla="val 310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exec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54660" y="3246120"/>
            <a:ext cx="2136207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38339" y="3136392"/>
            <a:ext cx="4278249" cy="3282696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9" name="Image 1" descr="/home/claude/pptx_proj/images/exec_donu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8067" y="3246120"/>
            <a:ext cx="4058793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Host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Zooms in on the 108K+ hosts behind the listings: average review score (4.74) and superhost share (20%).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average price against occupancy rate, and average price by superhost status, across all four room types.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6883" y="3178922"/>
            <a:ext cx="5568696" cy="2831876"/>
          </a:xfrm>
          <a:prstGeom prst="roundRect">
            <a:avLst>
              <a:gd name="adj" fmla="val 258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host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611" y="3288650"/>
            <a:ext cx="5349240" cy="26124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43323" y="2770632"/>
            <a:ext cx="5281313" cy="364845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9" name="Image 1" descr="/home/claude/pptx_proj/images/host_ba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3051" y="2880360"/>
            <a:ext cx="5061857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Time Series &amp; Seasonality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931K total reviews over time as a practical proxy for booking demand, since raw booking data isn't published.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estimated annual revenue trend highlights steady long-term growth in the Airbnb market across all three cities.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review breakdown reveals clear seasonality — busier and quieter months stand out immediately.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70682" y="2450592"/>
            <a:ext cx="582015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time_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0410" y="2560320"/>
            <a:ext cx="56007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66055" y="4599432"/>
            <a:ext cx="5429409" cy="2505456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9" name="Image 1" descr="/home/claude/pptx_proj/images/time_ba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75783" y="4709160"/>
            <a:ext cx="5209953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Listing Price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compared three regression models to predict nightly price: Linear Regression, Random Forest, and XGBoost.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each model with R² Score (higher is better) and RMSE in USD (lower is better).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came out on top (R² = 0.437, RMSE = $96.01), narrowly ahead of Random Forest — both clearly outperform the simple Linear Regression baseline.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41832" y="3319272"/>
            <a:ext cx="10277856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ml_compar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3429000"/>
            <a:ext cx="1005840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Price &amp; Revenue?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across the key pricing and revenue features.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 (0.44) and bedrooms (0.34) show the strongest link to price — bigger listings simply cost more.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and number of reviews are almost uncorrelated with price (≈ 0.03, − 0.01): guest ratings don't drive pricing.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reviews correlates with revenue (0.37), since it reflects booking volume over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96712" y="1399032"/>
            <a:ext cx="5980176" cy="4654296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heatma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508760"/>
            <a:ext cx="576072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Revenue by Room Type and City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581912"/>
            <a:ext cx="570585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6" name="Image 0" descr="/home/claude/pptx_proj/images/price_box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486400" cy="2706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53912" y="1581912"/>
            <a:ext cx="5705856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8" name="Image 1" descr="/home/claude/pptx_proj/images/revenue_box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691640"/>
            <a:ext cx="5486400" cy="2587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(USD)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263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distribution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498348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Kong's entire homes/apartments command noticeably higher prices and revenue than equivalent listings in Paris and London.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cities show heavy-tailed, right-skewed distributions with many high-value outliers.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Revenue Distribution Across Cities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67512" y="1673352"/>
            <a:ext cx="108264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6" name="Image 0" descr="/home/claude/pptx_proj/images/violi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83080"/>
            <a:ext cx="10607040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REVIEWS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Guests Saying?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NLP to the Reviews table to understand guest sentiment at scale.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are dominated by words like apartment, great, stay, place, and location — praising the space and its surroundings.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top "negative" words are simply French/German function words (très, est, und, nous) — a reminder that language mix, not necessarily complaints, shapes this 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3136392"/>
            <a:ext cx="10277856" cy="3191256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top_words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3246120"/>
            <a:ext cx="10058400" cy="297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REVIEWS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Sentiment Distribution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49,589 reviews with a sentiment analysis model.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40,595 Positive (82%), 5,400 Neutral (11%), 3,594 Negative (7%).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an overwhelmingly positive guest experience across all three cities.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82312" y="1627632"/>
            <a:ext cx="7031736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101600" dist="38100" dir="5400000" algn="bl" rotWithShape="0">
              <a:srgbClr val="0F1E33">
                <a:alpha val="25000"/>
              </a:srgbClr>
            </a:outerShdw>
          </a:effectLst>
        </p:spPr>
      </p:sp>
      <p:pic>
        <p:nvPicPr>
          <p:cNvPr id="7" name="Image 0" descr="/home/claude/pptx_proj/images/sentiment_dis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1737360"/>
            <a:ext cx="681228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F3A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leads on price &amp; revenue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359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 far greater variability than Paris or London — a higher-risk, higher-reward market.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933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beats reputation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86600" y="2359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 and bedrooms drive price much more than review scores or review counts.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win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40965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Random Forest clearly beat Linear Regression, though moderate R² shows price also depends on factors outside the dataset (location prestige, amenities, seasonality).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5661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283374"/>
          </a:solidFill>
          <a:ln w="12700">
            <a:solidFill>
              <a:srgbClr val="3A4A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730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overwhelmingly happy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86600" y="409651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reviews are positive across all three cities, reinforcing Airbnb's strong reputation.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 |  Multi-City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856</Words>
  <Application>Microsoft Office PowerPoint</Application>
  <PresentationFormat>Widescreen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Eman Abdelnassir Mahmoud Eissa</cp:lastModifiedBy>
  <cp:revision>2</cp:revision>
  <dcterms:created xsi:type="dcterms:W3CDTF">2026-07-24T22:27:18Z</dcterms:created>
  <dcterms:modified xsi:type="dcterms:W3CDTF">2026-07-25T09:27:12Z</dcterms:modified>
</cp:coreProperties>
</file>